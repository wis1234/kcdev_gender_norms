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C7293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846320"/>
            <a:ext cx="2926080" cy="29260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PRACTITIONER'S BRIEFING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SurveyCTO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Designing, Registering, and Deploying High-Quality Digital Field Data Collection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434840"/>
            <a:ext cx="201168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6177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9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Covering: sign-up &amp; registration • account types &amp; limits • XLSForm style guide • field workflow • security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DIME Analytics SurveyCTO Style Guide  ·  SurveyCTO Users’ Guide for Field Staff  ·  surveycto.com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EAF4FA"/>
          </a:solidFill>
          <a:ln w="12700">
            <a:solidFill>
              <a:srgbClr val="D7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5623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783080" y="185623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SurveyCTO?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83080" y="2313432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platform, ODK foundation, and XLSForm workflow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EAF4FA"/>
          </a:solidFill>
          <a:ln w="12700">
            <a:solidFill>
              <a:srgbClr val="D7E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85623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406640" y="185623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Sign-Up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06640" y="2313432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account creation, trial and sandbox options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72968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EAF4FA"/>
          </a:solidFill>
          <a:ln w="12700">
            <a:solidFill>
              <a:srgbClr val="D7E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3375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783080" y="333756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Types &amp; Limits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783080" y="3794760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Trial, Community, Basic, Pro, Advanced, Enterprise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3172968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EAF4FA"/>
          </a:solidFill>
          <a:ln w="12700">
            <a:solidFill>
              <a:srgbClr val="D7E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33375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406640" y="333756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High-Quality XLSForms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06640" y="3794760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 Analytics style-guide best practices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654296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EAF4FA"/>
          </a:solidFill>
          <a:ln w="12700">
            <a:solidFill>
              <a:srgbClr val="D7E6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818888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1783080" y="481888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Data Collection Workflow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783080" y="5276088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blank form to submitted, finalized dataset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4654296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EAF4FA"/>
          </a:solidFill>
          <a:ln w="12700">
            <a:solidFill>
              <a:srgbClr val="D7E6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818888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7406640" y="481888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Data Quality &amp; Key Takeaways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06640" y="5276088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compliance, and closing recommendations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SurveyCTO Briefing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PLATFORM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SurveyCTO?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 platform for offline-capable mobile data collection, built on the open-source </a:t>
            </a:r>
            <a:pPr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ODK (Open Data Kit)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framework.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660904"/>
            <a:ext cx="100584" cy="10058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53288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Questionnaires are designed as XLSForms — Excel files that are simply uploaded to the server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227832"/>
            <a:ext cx="100584" cy="10058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099816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fully offline in the field, syncing data when a connection is available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100584" cy="10058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666744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DIME/World Bank, universities, NGOs and survey firms worldwide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361688"/>
            <a:ext cx="100584" cy="10058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233672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complex skip logic, case management, and panel/longitudinal workflows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0" y="1691640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177393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XLSForm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29400" y="213969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 Excel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10800000">
            <a:off x="8887968" y="2551176"/>
            <a:ext cx="237744" cy="182880"/>
          </a:xfrm>
          <a:prstGeom prst="triangle">
            <a:avLst/>
          </a:prstGeom>
          <a:solidFill>
            <a:srgbClr val="5B6B7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0" y="2734056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28163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SurveyCTO Server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9400" y="31821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configure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rot="10800000">
            <a:off x="8887968" y="3593592"/>
            <a:ext cx="237744" cy="182880"/>
          </a:xfrm>
          <a:prstGeom prst="triangle">
            <a:avLst/>
          </a:prstGeom>
          <a:solidFill>
            <a:srgbClr val="5B6B76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0" y="3776472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38587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App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29400" y="422452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data capture — online or offline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rot="10800000">
            <a:off x="8887968" y="4636008"/>
            <a:ext cx="237744" cy="182880"/>
          </a:xfrm>
          <a:prstGeom prst="triangle">
            <a:avLst/>
          </a:prstGeom>
          <a:solidFill>
            <a:srgbClr val="5B6B76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0" y="4818888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490118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29400" y="526694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Stata, R, Excel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SurveyCTO Briefing — Platform Overview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PLATFORM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Teams Choose SurveyCTO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56432" cy="1920240"/>
          </a:xfrm>
          <a:prstGeom prst="roundRect">
            <a:avLst>
              <a:gd name="adj" fmla="val 4286"/>
            </a:avLst>
          </a:prstGeom>
          <a:solidFill>
            <a:srgbClr val="EAF4FA"/>
          </a:solidFill>
          <a:ln w="12700">
            <a:solidFill>
              <a:srgbClr val="D7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4767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04672" y="2624328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Offline Mode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990088"/>
            <a:ext cx="2953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complete surveys anywhere, without a live connection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79392" y="1691640"/>
            <a:ext cx="3456432" cy="1920240"/>
          </a:xfrm>
          <a:prstGeom prst="roundRect">
            <a:avLst>
              <a:gd name="adj" fmla="val 4286"/>
            </a:avLst>
          </a:prstGeom>
          <a:solidFill>
            <a:srgbClr val="EAF4FA"/>
          </a:solidFill>
          <a:ln w="12700">
            <a:solidFill>
              <a:srgbClr val="D7E6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194767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535424" y="1947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35424" y="2624328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Security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35424" y="2990088"/>
            <a:ext cx="2953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2048-bit encryption, SOC 2, GDPR &amp; HIPAA compliance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10144" y="1691640"/>
            <a:ext cx="3456432" cy="1920240"/>
          </a:xfrm>
          <a:prstGeom prst="roundRect">
            <a:avLst>
              <a:gd name="adj" fmla="val 4286"/>
            </a:avLst>
          </a:prstGeom>
          <a:solidFill>
            <a:srgbClr val="EAF4FA"/>
          </a:solidFill>
          <a:ln w="12700">
            <a:solidFill>
              <a:srgbClr val="D7E6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66176" y="194767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8266176" y="1947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📋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66176" y="2624328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Management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66176" y="2990088"/>
            <a:ext cx="2953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and follow up entities across longitudinal studies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456432" cy="1920240"/>
          </a:xfrm>
          <a:prstGeom prst="roundRect">
            <a:avLst>
              <a:gd name="adj" fmla="val 4286"/>
            </a:avLst>
          </a:prstGeom>
          <a:solidFill>
            <a:srgbClr val="EAF4FA"/>
          </a:solidFill>
          <a:ln w="12700">
            <a:solidFill>
              <a:srgbClr val="D7E6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414223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1422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04672" y="4818888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Quality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" y="5184648"/>
            <a:ext cx="2953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statistical checks and live monitoring dashboards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79392" y="3886200"/>
            <a:ext cx="3456432" cy="1920240"/>
          </a:xfrm>
          <a:prstGeom prst="roundRect">
            <a:avLst>
              <a:gd name="adj" fmla="val 4286"/>
            </a:avLst>
          </a:prstGeom>
          <a:solidFill>
            <a:srgbClr val="EAF4FA"/>
          </a:solidFill>
          <a:ln w="12700">
            <a:solidFill>
              <a:srgbClr val="D7E6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35424" y="414223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4535424" y="41422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🔀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535424" y="4818888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Logic &amp; Workflows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35424" y="5184648"/>
            <a:ext cx="2953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Branching, preloaded data, and automated case assignment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10144" y="3886200"/>
            <a:ext cx="3456432" cy="1920240"/>
          </a:xfrm>
          <a:prstGeom prst="roundRect">
            <a:avLst>
              <a:gd name="adj" fmla="val 4286"/>
            </a:avLst>
          </a:prstGeom>
          <a:solidFill>
            <a:srgbClr val="EAF4FA"/>
          </a:solidFill>
          <a:ln w="12700">
            <a:solidFill>
              <a:srgbClr val="D7E6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66176" y="4142232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1" name="Text 29"/>
          <p:cNvSpPr/>
          <p:nvPr/>
        </p:nvSpPr>
        <p:spPr>
          <a:xfrm>
            <a:off x="8266176" y="41422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🔗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266176" y="4818888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Integrations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66176" y="5184648"/>
            <a:ext cx="2953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plug-ins, Zapier, Power BI, Salesforce and more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SurveyCTO Briefing — Platform Overview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GETTING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 &amp; Sign-Up Process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07008" y="167335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surveycto.com/plans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07008" y="20574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Trial, Community, and paid subscription options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172200" y="1737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30568" y="167335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entry point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30568" y="20574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15-day free trial (no credit card) or free Community sandbox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07008" y="31363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server &amp; admin account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07008" y="35204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unique server name — yourteam.surveycto.com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32004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30568" y="313639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your email &amp; set credentials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830568" y="35204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account and set a secure password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07008" y="459943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your team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207008" y="49834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unlimited users and assign roles — available on every plan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466344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30568" y="459943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SurveyCTO Collect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830568" y="498348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 mobile app (Android/iOS) on every field device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SurveyCTO Briefing — Getting Started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GETTING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Free Ways to Start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12325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659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15-Day Free Trial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24505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card required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05840" y="3127248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" name="Text 6"/>
          <p:cNvSpPr/>
          <p:nvPr/>
        </p:nvSpPr>
        <p:spPr>
          <a:xfrm>
            <a:off x="1261872" y="2953512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SurveyCTO features unlocked, incl. 24×7 expert support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005840" y="3995928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0" name="Text 8"/>
          <p:cNvSpPr/>
          <p:nvPr/>
        </p:nvSpPr>
        <p:spPr>
          <a:xfrm>
            <a:off x="1261872" y="3822192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10 forms · 200 submissions/month · 200MB storage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005840" y="4864608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/>
          <p:nvPr/>
        </p:nvSpPr>
        <p:spPr>
          <a:xfrm>
            <a:off x="1261872" y="4690872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to a paid plan anytime without losing data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69164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12325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19659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Subscription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29400" y="24505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ongoing sandbox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29400" y="3127248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7" name="Text 15"/>
          <p:cNvSpPr/>
          <p:nvPr/>
        </p:nvSpPr>
        <p:spPr>
          <a:xfrm>
            <a:off x="6885432" y="2953512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evaluating, testing new forms, or training new staff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29400" y="3995928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9" name="Text 17"/>
          <p:cNvSpPr/>
          <p:nvPr/>
        </p:nvSpPr>
        <p:spPr>
          <a:xfrm>
            <a:off x="6885432" y="3822192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limits as trial: 10 forms · 200 submissions/mo · 200MB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29400" y="4864608"/>
            <a:ext cx="91440" cy="9144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1" name="Text 19"/>
          <p:cNvSpPr/>
          <p:nvPr/>
        </p:nvSpPr>
        <p:spPr>
          <a:xfrm>
            <a:off x="6885432" y="4690872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C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indefinitely after the trial period ends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SurveyCTO Briefing — Getting Started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ACCOUNT TYPES &amp; LIMITS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Types at a Glance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56616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3566160"/>
                <a:gridCol w="1463040"/>
                <a:gridCol w="1920240"/>
                <a:gridCol w="12801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Plan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Price / mo*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Forms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Submissions/mo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Storage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</a:rPr>
                        <a:t>Trial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Free (15 days)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Evaluating the platform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10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200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200 MB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</a:rPr>
                        <a:t>Community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Free, ongoing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Testing &amp; staff training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10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200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200 MB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</a:rPr>
                        <a:t>Basic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$225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One-time or simple ongoing collection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100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5,000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10 GB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</a:rPr>
                        <a:t>Pro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$315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Ongoing workflows, standard compliance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500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10,000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25 GB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</a:rPr>
                        <a:t>Advanced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$630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Advanced, automated workflows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Unlimited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Unlimited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Unlimited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2545"/>
                          </a:solidFill>
                        </a:rPr>
                        <a:t>Enterprise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Custom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Org-wide / large-scale projects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Custom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Custom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</a:rPr>
                        <a:t>Custom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Annual-subscription rate shown; monthly billing is ~11% higher. All paid plans include unlimited users &amp; devices, 24×7 expert support, and public-private key encryption.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SurveyCTO Briefing — Account Types &amp; Limits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ACCOUNT TYPES &amp; LIMITS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Scales as You Upgrade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EAF4FA"/>
          </a:solidFill>
          <a:ln w="12700">
            <a:solidFill>
              <a:srgbClr val="D7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520440" cy="68580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57400"/>
            <a:ext cx="352044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2660904"/>
            <a:ext cx="100584" cy="10058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514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GDPR DPA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264408"/>
            <a:ext cx="100584" cy="10058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11810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certified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867912"/>
            <a:ext cx="100584" cy="10058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7216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offline case mgmt.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471416"/>
            <a:ext cx="100584" cy="10058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3251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AI tokens*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169164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EAF4FA"/>
          </a:solidFill>
          <a:ln w="12700">
            <a:solidFill>
              <a:srgbClr val="D7E6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1691640"/>
            <a:ext cx="3520440" cy="685800"/>
          </a:xfrm>
          <a:prstGeom prst="roundRect">
            <a:avLst>
              <a:gd name="adj" fmla="val 13333"/>
            </a:avLst>
          </a:prstGeom>
          <a:solidFill>
            <a:srgbClr val="065A82"/>
          </a:solidFill>
          <a:ln/>
        </p:spPr>
      </p:sp>
      <p:sp>
        <p:nvSpPr>
          <p:cNvPr id="18" name="Shape 16"/>
          <p:cNvSpPr/>
          <p:nvPr/>
        </p:nvSpPr>
        <p:spPr>
          <a:xfrm>
            <a:off x="4343400" y="2057400"/>
            <a:ext cx="352044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16916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617720" y="2660904"/>
            <a:ext cx="100584" cy="10058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514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location selection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3264408"/>
            <a:ext cx="100584" cy="10058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11810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plug-ins + limited API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3867912"/>
            <a:ext cx="100584" cy="10058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7216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SOC 2 report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17720" y="4471416"/>
            <a:ext cx="100584" cy="10058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43251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250,000 AI tokens*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38160" y="169164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EAF4FA"/>
          </a:solidFill>
          <a:ln w="12700">
            <a:solidFill>
              <a:srgbClr val="D7E6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38160" y="1691640"/>
            <a:ext cx="3520440" cy="685800"/>
          </a:xfrm>
          <a:prstGeom prst="roundRect">
            <a:avLst>
              <a:gd name="adj" fmla="val 13333"/>
            </a:avLst>
          </a:prstGeom>
          <a:solidFill>
            <a:srgbClr val="0B2545"/>
          </a:solidFill>
          <a:ln/>
        </p:spPr>
      </p:sp>
      <p:sp>
        <p:nvSpPr>
          <p:cNvPr id="30" name="Shape 28"/>
          <p:cNvSpPr/>
          <p:nvPr/>
        </p:nvSpPr>
        <p:spPr>
          <a:xfrm>
            <a:off x="8138160" y="2057400"/>
            <a:ext cx="3520440" cy="32004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169164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8412480" y="2660904"/>
            <a:ext cx="100584" cy="10058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3" name="Text 31"/>
          <p:cNvSpPr/>
          <p:nvPr/>
        </p:nvSpPr>
        <p:spPr>
          <a:xfrm>
            <a:off x="8641080" y="2514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GDPR DPA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412480" y="3264408"/>
            <a:ext cx="100584" cy="10058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5" name="Text 33"/>
          <p:cNvSpPr/>
          <p:nvPr/>
        </p:nvSpPr>
        <p:spPr>
          <a:xfrm>
            <a:off x="8641080" y="311810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APIs &amp; plug-ins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412480" y="3867912"/>
            <a:ext cx="100584" cy="10058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7" name="Text 35"/>
          <p:cNvSpPr/>
          <p:nvPr/>
        </p:nvSpPr>
        <p:spPr>
          <a:xfrm>
            <a:off x="8641080" y="37216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offline case mgmt.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412480" y="4471416"/>
            <a:ext cx="100584" cy="100584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9" name="Text 37"/>
          <p:cNvSpPr/>
          <p:nvPr/>
        </p:nvSpPr>
        <p:spPr>
          <a:xfrm>
            <a:off x="8641080" y="43251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500,000 AI tokens*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58064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*AI token allowance supports built-in AI transcription and translation tools.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SurveyCTO Briefing — Account Types &amp; Limits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DESIGNING HIGH-QUALITY XLSFORMS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Readable Forms Start with 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EAF4FA"/>
          </a:solidFill>
          <a:ln w="12700">
            <a:solidFill>
              <a:srgbClr val="D7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 Rows by Field Type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every question type (text, integer, select_one, calculate…) a consistent color. A coder can then scan the sheet and instantly find, say, every integer field to update a constraint — no need to read every row.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3611880"/>
            <a:ext cx="4572000" cy="384048"/>
          </a:xfrm>
          <a:prstGeom prst="rect">
            <a:avLst/>
          </a:prstGeom>
          <a:solidFill>
            <a:srgbClr val="F2A54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61188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group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4069080"/>
            <a:ext cx="4572000" cy="384048"/>
          </a:xfrm>
          <a:prstGeom prst="rect">
            <a:avLst/>
          </a:prstGeom>
          <a:solidFill>
            <a:srgbClr val="8FBF7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06908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/ integer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4526280"/>
            <a:ext cx="4572000" cy="384048"/>
          </a:xfrm>
          <a:prstGeom prst="rect">
            <a:avLst/>
          </a:prstGeom>
          <a:solidFill>
            <a:srgbClr val="9DB8D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52628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select_one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" y="4983480"/>
            <a:ext cx="4572000" cy="384048"/>
          </a:xfrm>
          <a:prstGeom prst="rect">
            <a:avLst/>
          </a:prstGeom>
          <a:solidFill>
            <a:srgbClr val="E3A6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98348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164592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EAF4FA"/>
          </a:solidFill>
          <a:ln w="12700">
            <a:solidFill>
              <a:srgbClr val="D7E6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1874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White Space Between Modules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37960" y="233172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rows between modules don’t affect execution, but they let readers instantly see where one section (e.g. Household Roster) ends and the next (e.g. Assets) begins — critical for 100+ question instruments.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37960" y="3611880"/>
            <a:ext cx="45720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3611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module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37960" y="4251960"/>
            <a:ext cx="45720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4251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School-age members module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37960" y="4892040"/>
            <a:ext cx="45720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8920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module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SurveyCTO Briefing — XLSForm Style Guide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DESIGNING HIGH-QUALITY XLSFORMS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Control &amp; Matching Group Names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EAF4FA"/>
          </a:solidFill>
          <a:ln w="12700">
            <a:solidFill>
              <a:srgbClr val="D7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Form Version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form's version must be lexically greater than the one already on the server. Instead of typing it by hand, use a formula tied to the system clock in the settings sheet: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3200400"/>
            <a:ext cx="4846320" cy="1005840"/>
          </a:xfrm>
          <a:prstGeom prst="roundRect">
            <a:avLst>
              <a:gd name="adj" fmla="val 5455"/>
            </a:avLst>
          </a:prstGeom>
          <a:solidFill>
            <a:srgbClr val="0B2545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3273552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=TEXT(YEAR(NOW())-2000,"00") &amp;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TEXT(MONTH(NOW()),"00") &amp;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TEXT(DAY(NOW()),"00") &amp; …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43434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teams always pick up a colleague’s latest edits instead of overwriting them.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EAF4FA"/>
          </a:solidFill>
          <a:ln w="12700">
            <a:solidFill>
              <a:srgbClr val="D7E6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874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Both begin_ and end_ Fields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23317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ODK only requires begin_group / begin_repeat to be named — but naming the matching end_ field too makes large, nested questionnaires far easier to debug and divide among team members.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537960" y="3429000"/>
            <a:ext cx="457200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342900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group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052560" y="34290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hhr_education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37960" y="3886200"/>
            <a:ext cx="4572000" cy="384048"/>
          </a:xfrm>
          <a:prstGeom prst="rect">
            <a:avLst/>
          </a:prstGeom>
          <a:solidFill>
            <a:srgbClr val="D9E6E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388620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...questions...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052560" y="38862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37960" y="4343400"/>
            <a:ext cx="457200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434340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group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052560" y="43434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hhr_education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37960" y="48463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names = the ietestform Stata command (DIME Analytics) can verify every group closes correctly.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SurveyCTO Briefing — XLSForm Style Guide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DESIGNING HIGH-QUALITY XLSFORMS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Variables &amp; Coding Choice Lists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Naming Convention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94960" cy="6858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5394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algn="ctr" indent="0" marL="0">
              <a:buNone/>
            </a:pPr>
            <a:r>
              <a:rPr lang="en-US" sz="2000" b="1" dirty="0">
                <a:solidFill>
                  <a:srgbClr val="6FD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varname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pPr algn="ctr" indent="0" marL="0">
              <a:buNone/>
            </a:pPr>
            <a:r>
              <a:rPr lang="en-US" sz="2000" b="1" dirty="0">
                <a:solidFill>
                  <a:srgbClr val="9B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980944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834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 (a–z), digits (0–9), and underscores only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45643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310128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 only — Stata &amp; R are case-sensitive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785616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32 characters (Stata's hard limit); flagged by ietestform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63640" y="1600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Choice Codes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057400"/>
          <a:ext cx="53949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8404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1, 2, 3…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Ordinary numeric answer options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-9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“Other”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-88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“Refuse to answer”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-99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“Do not know”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6263640" y="443484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Numeric, standardized codes make relevance/constraint logic (e.g. ${occupation} = 4) reliable across the whole form — text values like “Factory Worker” must match character-for-character to work.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SurveyCTO Briefing — XLSForm Style Guide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DESIGNING HIGH-QUALITY XLSFORMS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 the Respondent's Language, Keep the Data Numeric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codes are great for analysis — but confusing if read aloud. A calculate field with choice_label() lets the enumerator see the word while the dataset still stores the number.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FBEDED"/>
          </a:solidFill>
          <a:ln w="12700">
            <a:solidFill>
              <a:srgbClr val="E3B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871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Without a Choice Label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971800"/>
            <a:ext cx="4800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B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971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much area (in hectares) is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cultivated under 5?”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0690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enumerator and respondent have no idea what “5” refers to — the flow of the interview breaks down.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228600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EAF6EE"/>
          </a:solidFill>
          <a:ln w="12700">
            <a:solidFill>
              <a:srgbClr val="A9D6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24871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With choice_label()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37960" y="2971800"/>
            <a:ext cx="4800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9D6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29718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much area (in hectares) is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cultivated under maize?”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40690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exported variable crop_name still stores the numeric code “5” — clean for Stata/R, clear for the interview.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SurveyCTO Briefing — XLSForm Style Guide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THE FIELD DATA COLLECTION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Life of a Form on a Device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85216" y="2377440"/>
            <a:ext cx="2514600" cy="1965960"/>
          </a:xfrm>
          <a:prstGeom prst="roundRect">
            <a:avLst>
              <a:gd name="adj" fmla="val 4186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1586484" y="257860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586484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9808" y="3200400"/>
            <a:ext cx="2185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Blank Form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3611880"/>
            <a:ext cx="21854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Enumerator opens a new form and starts the interview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 rot="5400000">
            <a:off x="3127248" y="3246120"/>
            <a:ext cx="237744" cy="219456"/>
          </a:xfrm>
          <a:prstGeom prst="triangle">
            <a:avLst/>
          </a:prstGeom>
          <a:solidFill>
            <a:srgbClr val="5B6B76"/>
          </a:solidFill>
          <a:ln/>
        </p:spPr>
      </p:sp>
      <p:sp>
        <p:nvSpPr>
          <p:cNvPr id="10" name="Shape 8"/>
          <p:cNvSpPr/>
          <p:nvPr/>
        </p:nvSpPr>
        <p:spPr>
          <a:xfrm>
            <a:off x="3419856" y="2377440"/>
            <a:ext cx="2514600" cy="1965960"/>
          </a:xfrm>
          <a:prstGeom prst="roundRect">
            <a:avLst>
              <a:gd name="adj" fmla="val 4186"/>
            </a:avLst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4421124" y="257860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421124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84448" y="3200400"/>
            <a:ext cx="2185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Saved Form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84448" y="3611880"/>
            <a:ext cx="21854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(not finalized) after the interview — ready for review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rot="5400000">
            <a:off x="5961888" y="3246120"/>
            <a:ext cx="237744" cy="219456"/>
          </a:xfrm>
          <a:prstGeom prst="triangle">
            <a:avLst/>
          </a:prstGeom>
          <a:solidFill>
            <a:srgbClr val="5B6B76"/>
          </a:solidFill>
          <a:ln/>
        </p:spPr>
      </p:sp>
      <p:sp>
        <p:nvSpPr>
          <p:cNvPr id="16" name="Shape 14"/>
          <p:cNvSpPr/>
          <p:nvPr/>
        </p:nvSpPr>
        <p:spPr>
          <a:xfrm>
            <a:off x="6254496" y="2377440"/>
            <a:ext cx="2514600" cy="1965960"/>
          </a:xfrm>
          <a:prstGeom prst="roundRect">
            <a:avLst>
              <a:gd name="adj" fmla="val 4186"/>
            </a:avLst>
          </a:prstGeom>
          <a:solidFill>
            <a:srgbClr val="F2A541"/>
          </a:solidFill>
          <a:ln/>
        </p:spPr>
      </p:sp>
      <p:sp>
        <p:nvSpPr>
          <p:cNvPr id="17" name="Shape 15"/>
          <p:cNvSpPr/>
          <p:nvPr/>
        </p:nvSpPr>
        <p:spPr>
          <a:xfrm>
            <a:off x="7255764" y="257860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255764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19088" y="3200400"/>
            <a:ext cx="2185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Finalized Form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19088" y="3611880"/>
            <a:ext cx="21854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reviews, edits, and marks it “finalized”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 rot="5400000">
            <a:off x="8796528" y="3246120"/>
            <a:ext cx="237744" cy="219456"/>
          </a:xfrm>
          <a:prstGeom prst="triangle">
            <a:avLst/>
          </a:prstGeom>
          <a:solidFill>
            <a:srgbClr val="5B6B76"/>
          </a:solidFill>
          <a:ln/>
        </p:spPr>
      </p:sp>
      <p:sp>
        <p:nvSpPr>
          <p:cNvPr id="22" name="Shape 20"/>
          <p:cNvSpPr/>
          <p:nvPr/>
        </p:nvSpPr>
        <p:spPr>
          <a:xfrm>
            <a:off x="9089136" y="2377440"/>
            <a:ext cx="2514600" cy="1965960"/>
          </a:xfrm>
          <a:prstGeom prst="roundRect">
            <a:avLst>
              <a:gd name="adj" fmla="val 4186"/>
            </a:avLst>
          </a:prstGeom>
          <a:solidFill>
            <a:srgbClr val="0B2545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90404" y="257860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090404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253728" y="3200400"/>
            <a:ext cx="21854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Deleted Saved Form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253728" y="3611880"/>
            <a:ext cx="218541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3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to the server — archived on the device, never re-opened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" y="489204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rule: never reopen and edit a form that has already been sent — doing so creates duplicate submissions on the server.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SurveyCTO Briefing — Field Workflow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THE FIELD DATA COLLECTION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Staff: Device &amp; Data Habits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56432" cy="1783080"/>
          </a:xfrm>
          <a:prstGeom prst="roundRect">
            <a:avLst>
              <a:gd name="adj" fmla="val 4615"/>
            </a:avLst>
          </a:prstGeom>
          <a:solidFill>
            <a:srgbClr val="EAF4FA"/>
          </a:solidFill>
          <a:ln w="12700">
            <a:solidFill>
              <a:srgbClr val="D7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9280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🔋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2999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nightly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807208"/>
            <a:ext cx="29992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devices every night; always carry a charger and a paper backup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79392" y="1691640"/>
            <a:ext cx="3456432" cy="1783080"/>
          </a:xfrm>
          <a:prstGeom prst="roundRect">
            <a:avLst>
              <a:gd name="adj" fmla="val 4615"/>
            </a:avLst>
          </a:prstGeom>
          <a:solidFill>
            <a:srgbClr val="EAF4FA"/>
          </a:solidFill>
          <a:ln w="12700">
            <a:solidFill>
              <a:srgbClr val="D7E6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07992" y="189280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🕑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07992" y="2468880"/>
            <a:ext cx="2999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date &amp; time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07992" y="2807208"/>
            <a:ext cx="29992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SurveyCTO logs device date/time — it feeds directly into data quality checks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10144" y="1691640"/>
            <a:ext cx="3456432" cy="1783080"/>
          </a:xfrm>
          <a:prstGeom prst="roundRect">
            <a:avLst>
              <a:gd name="adj" fmla="val 4615"/>
            </a:avLst>
          </a:prstGeom>
          <a:solidFill>
            <a:srgbClr val="EAF4FA"/>
          </a:solidFill>
          <a:ln w="12700">
            <a:solidFill>
              <a:srgbClr val="D7E6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38744" y="189280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238744" y="1892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📶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238744" y="2468880"/>
            <a:ext cx="2999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&amp; data off during interviews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38744" y="2807208"/>
            <a:ext cx="29992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battery and avoids forms being auto-sent before they're reviewed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730752"/>
            <a:ext cx="3456432" cy="1783080"/>
          </a:xfrm>
          <a:prstGeom prst="roundRect">
            <a:avLst>
              <a:gd name="adj" fmla="val 4615"/>
            </a:avLst>
          </a:prstGeom>
          <a:solidFill>
            <a:srgbClr val="EAF4FA"/>
          </a:solidFill>
          <a:ln w="12700">
            <a:solidFill>
              <a:srgbClr val="D7E6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931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💾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77240" y="4507992"/>
            <a:ext cx="2999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regularly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" y="4846320"/>
            <a:ext cx="29992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save icon during long interviews so no answers are ever lost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79392" y="3730752"/>
            <a:ext cx="3456432" cy="1783080"/>
          </a:xfrm>
          <a:prstGeom prst="roundRect">
            <a:avLst>
              <a:gd name="adj" fmla="val 4615"/>
            </a:avLst>
          </a:prstGeom>
          <a:solidFill>
            <a:srgbClr val="EAF4FA"/>
          </a:solidFill>
          <a:ln w="12700">
            <a:solidFill>
              <a:srgbClr val="D7E6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07992" y="3931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4507992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⛔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4507992" y="4507992"/>
            <a:ext cx="2999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edit a sent form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07992" y="4846320"/>
            <a:ext cx="29992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Reopening a submitted form creates duplicate records on the server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10144" y="3730752"/>
            <a:ext cx="3456432" cy="1783080"/>
          </a:xfrm>
          <a:prstGeom prst="roundRect">
            <a:avLst>
              <a:gd name="adj" fmla="val 4615"/>
            </a:avLst>
          </a:prstGeom>
          <a:solidFill>
            <a:srgbClr val="EAF4FA"/>
          </a:solidFill>
          <a:ln w="12700">
            <a:solidFill>
              <a:srgbClr val="D7E6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38744" y="3931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8238744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🌐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8238744" y="4507992"/>
            <a:ext cx="29992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only to sync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238744" y="4846320"/>
            <a:ext cx="299923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is needed only to download blank forms and send finalized ones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SurveyCTO Briefing — Field Workflow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SECURITY &amp; KEY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Security, Compliance &amp; Data Quality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56432" cy="1600200"/>
          </a:xfrm>
          <a:prstGeom prst="roundRect">
            <a:avLst>
              <a:gd name="adj" fmla="val 5143"/>
            </a:avLst>
          </a:prstGeom>
          <a:solidFill>
            <a:srgbClr val="12325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2024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20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2359152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2048-bit Encryption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2697480"/>
            <a:ext cx="305409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3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Public-private key encryption on every form and submission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79392" y="1737360"/>
            <a:ext cx="3456432" cy="1600200"/>
          </a:xfrm>
          <a:prstGeom prst="roundRect">
            <a:avLst>
              <a:gd name="adj" fmla="val 5143"/>
            </a:avLst>
          </a:prstGeom>
          <a:solidFill>
            <a:srgbClr val="12325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92024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920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2359152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2 Certified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2697480"/>
            <a:ext cx="305409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3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audited security controls; report available annually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10144" y="1737360"/>
            <a:ext cx="3456432" cy="1600200"/>
          </a:xfrm>
          <a:prstGeom prst="roundRect">
            <a:avLst>
              <a:gd name="adj" fmla="val 5143"/>
            </a:avLst>
          </a:prstGeom>
          <a:solidFill>
            <a:srgbClr val="12325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11312" y="192024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/>
          <p:nvPr/>
        </p:nvSpPr>
        <p:spPr>
          <a:xfrm>
            <a:off x="8211312" y="1920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11312" y="2359152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&amp; HIPAA Compliant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11312" y="2697480"/>
            <a:ext cx="305409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3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or custom Data Processing Agreements by plan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593592"/>
            <a:ext cx="3456432" cy="1600200"/>
          </a:xfrm>
          <a:prstGeom prst="roundRect">
            <a:avLst>
              <a:gd name="adj" fmla="val 5143"/>
            </a:avLst>
          </a:prstGeom>
          <a:solidFill>
            <a:srgbClr val="12325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3776472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776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9808" y="4215384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Support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4553712"/>
            <a:ext cx="305409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3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 via Google, Okta, and Azure AD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79392" y="3593592"/>
            <a:ext cx="3456432" cy="1600200"/>
          </a:xfrm>
          <a:prstGeom prst="roundRect">
            <a:avLst>
              <a:gd name="adj" fmla="val 5143"/>
            </a:avLst>
          </a:prstGeom>
          <a:solidFill>
            <a:srgbClr val="12325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3776472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0" y="3776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480560" y="4215384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Uptime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80560" y="4553712"/>
            <a:ext cx="305409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3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redundancy and automated backups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010144" y="3593592"/>
            <a:ext cx="3456432" cy="1600200"/>
          </a:xfrm>
          <a:prstGeom prst="roundRect">
            <a:avLst>
              <a:gd name="adj" fmla="val 5143"/>
            </a:avLst>
          </a:prstGeom>
          <a:solidFill>
            <a:srgbClr val="12325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11312" y="3776472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31" name="Text 29"/>
          <p:cNvSpPr/>
          <p:nvPr/>
        </p:nvSpPr>
        <p:spPr>
          <a:xfrm>
            <a:off x="8211312" y="3776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11312" y="4215384"/>
            <a:ext cx="3054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Quality Checks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11312" y="4553712"/>
            <a:ext cx="305409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3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visualization and automated statistical review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SurveyCTO Briefing — Security &amp; Key Takeaways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389120"/>
            <a:ext cx="3840480" cy="384048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It Right, Register Wisely, Collect With Confidence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2404872"/>
            <a:ext cx="118872" cy="11887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24028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free trial or Community sandbox before committing to a paid plan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026664"/>
            <a:ext cx="118872" cy="11887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862072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plan (Basic → Enterprise) to your submission volume, storage, and compliance needs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648456"/>
            <a:ext cx="118872" cy="11887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483864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DIME Analytics style guide — color coding, white space, and clear naming save hours downstream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270248"/>
            <a:ext cx="118872" cy="11887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105656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choice codes and load choice labels so data stays clean and interviews stay natural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892040"/>
            <a:ext cx="118872" cy="118872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727448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field staff on the save → review → finalize → send workflow to protect data integrity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5806440"/>
            <a:ext cx="201168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943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surveycto.com  ·  docs.surveycto.com  ·  DIME Analytics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2026-07-23T06:44:49Z</dcterms:created>
  <dcterms:modified xsi:type="dcterms:W3CDTF">2026-07-23T06:44:49Z</dcterms:modified>
</cp:coreProperties>
</file>