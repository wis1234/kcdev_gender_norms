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Écoles par bras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B2A4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2A4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ρ = 0,05</c:v>
                  </c:pt>
                  <c:pt idx="1">
                    <c:v>ρ = 0,10 (central)</c:v>
                  </c:pt>
                  <c:pt idx="2">
                    <c:v>ρ = 0,15</c:v>
                  </c:pt>
                  <c:pt idx="3">
                    <c:v>ρ = 0,20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</c:v>
                </c:pt>
                <c:pt idx="1">
                  <c:v>52</c:v>
                </c:pt>
                <c:pt idx="2">
                  <c:v>70</c:v>
                </c:pt>
                <c:pt idx="3">
                  <c:v>89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1B2A4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4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4E0D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7280"/>
                    </a:solidFill>
                    <a:latin typeface="Arial"/>
                  </a:rPr>
                  <a:t>Écoles nécessaires / bras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MDE (SD)</c:v>
                </c:pt>
              </c:strCache>
            </c:strRef>
          </c:tx>
          <c:spPr>
            <a:solidFill>
              <a:srgbClr val="D65A31"/>
            </a:solidFill>
            <a:ln w="38100" cap="flat">
              <a:solidFill>
                <a:srgbClr val="D65A31"/>
              </a:solidFill>
              <a:prstDash val="solid"/>
              <a:round/>
            </a:ln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B2A4E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D65A31"/>
              </a:solidFill>
              <a:ln w="9525" cap="flat">
                <a:solidFill>
                  <a:srgbClr val="D65A3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ρ = 0,05</c:v>
                  </c:pt>
                  <c:pt idx="1">
                    <c:v>ρ = 0,10</c:v>
                  </c:pt>
                  <c:pt idx="2">
                    <c:v>ρ = 0,15</c:v>
                  </c:pt>
                  <c:pt idx="3">
                    <c:v>ρ = 0,20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0.16</c:v>
                </c:pt>
                <c:pt idx="1">
                  <c:v>0.202</c:v>
                </c:pt>
                <c:pt idx="2">
                  <c:v>0.237</c:v>
                </c:pt>
                <c:pt idx="3">
                  <c:v>0.267</c:v>
                </c:pt>
              </c:numCache>
            </c:numRef>
          </c:val>
          <c:smooth val="0"/>
        </c:ser>
        <c:dLbls>
          <c:numFmt formatCode="0.000" sourceLinked="0"/>
          <c:txPr>
            <a:bodyPr/>
            <a:lstStyle/>
            <a:p>
              <a:pPr>
                <a:defRPr b="1" i="0" strike="noStrike" sz="1300" u="none">
                  <a:solidFill>
                    <a:srgbClr val="1B2A4E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4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32"/>
          <c:min val="0.1"/>
        </c:scaling>
        <c:delete val="0"/>
        <c:axPos val="l"/>
        <c:majorGridlines>
          <c:spPr>
            <a:ln w="9525" cap="flat">
              <a:solidFill>
                <a:srgbClr val="E4E0D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7280"/>
                    </a:solidFill>
                    <a:latin typeface="Arial"/>
                  </a:rPr>
                  <a:t>MDE (écarts-types)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MDE (SD)</c:v>
                </c:pt>
              </c:strCache>
            </c:strRef>
          </c:tx>
          <c:spPr>
            <a:solidFill>
              <a:srgbClr val="D65A31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B2A4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65A3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2A4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Au sein d'un seul bras
(25 vs 25 écoles)</c:v>
                  </c:pt>
                  <c:pt idx="1">
                    <c:v>Bras traités poolés
(50 vs 50 écoles)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0.286</c:v>
                </c:pt>
                <c:pt idx="1">
                  <c:v>0.202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1" i="0" strike="noStrike" sz="1300" u="none">
                  <a:solidFill>
                    <a:srgbClr val="1B2A4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4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4E0D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7280"/>
                    </a:solidFill>
                    <a:latin typeface="Arial"/>
                  </a:rPr>
                  <a:t>MDE (écarts-types)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2E4373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663440"/>
            <a:ext cx="2743200" cy="2743200"/>
          </a:xfrm>
          <a:prstGeom prst="ellipse">
            <a:avLst/>
          </a:prstGeom>
          <a:solidFill>
            <a:srgbClr val="D65A31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663440"/>
            <a:ext cx="2743200" cy="2743200"/>
          </a:xfrm>
          <a:prstGeom prst="ellipse">
            <a:avLst/>
          </a:prstGeom>
          <a:solidFill>
            <a:srgbClr val="D65A31">
              <a:alpha val="2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CKDEV  ×  DARTMOUTH COLLEGE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Calculs de puissance statistique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 taille d'effet minimale détectable (MDE)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Normes de genre, corvées domestiques, éducation et aspirations des filles au Bénin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58368" y="4434840"/>
            <a:ext cx="292608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Préparé pour la revue du protocole de recherche  •  PI : M. Yedomiffi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263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Septembre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5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essai randomisé en grappes, à trois bras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246120" cy="2834640"/>
          </a:xfrm>
          <a:prstGeom prst="roundRect">
            <a:avLst>
              <a:gd name="adj" fmla="val 2903"/>
            </a:avLst>
          </a:prstGeom>
          <a:solidFill>
            <a:srgbClr val="F4F1EC"/>
          </a:solidFill>
          <a:ln/>
          <a:effectLst>
            <a:outerShdw sx="100000" sy="100000" kx="0" ky="0" algn="bl" rotWithShape="0" blurRad="101600" dist="38100" dir="5400000">
              <a:srgbClr val="999999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57400"/>
            <a:ext cx="777240" cy="91440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/>
        </p:spPr>
      </p:sp>
      <p:sp>
        <p:nvSpPr>
          <p:cNvPr id="6" name="Shape 4"/>
          <p:cNvSpPr/>
          <p:nvPr/>
        </p:nvSpPr>
        <p:spPr>
          <a:xfrm>
            <a:off x="1714500" y="2286000"/>
            <a:ext cx="914400" cy="914400"/>
          </a:xfrm>
          <a:prstGeom prst="ellipse">
            <a:avLst/>
          </a:prstGeom>
          <a:solidFill>
            <a:srgbClr val="6B728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3372" y="2404872"/>
            <a:ext cx="676656" cy="6766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33756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CONTRÔLE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90448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intervention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31520" y="4599432"/>
            <a:ext cx="2880360" cy="45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écoles</a:t>
            </a:r>
            <a:endParaRPr lang="en-US" sz="10" dirty="0"/>
          </a:p>
        </p:txBody>
      </p:sp>
      <p:sp>
        <p:nvSpPr>
          <p:cNvPr id="11" name="Shape 8"/>
          <p:cNvSpPr/>
          <p:nvPr/>
        </p:nvSpPr>
        <p:spPr>
          <a:xfrm>
            <a:off x="1485900" y="4233672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875">
            <a:solidFill>
              <a:srgbClr val="6B728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485900" y="423367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écoles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114800" y="1783080"/>
            <a:ext cx="3246120" cy="2834640"/>
          </a:xfrm>
          <a:prstGeom prst="roundRect">
            <a:avLst>
              <a:gd name="adj" fmla="val 2903"/>
            </a:avLst>
          </a:prstGeom>
          <a:solidFill>
            <a:srgbClr val="F4F1EC"/>
          </a:solidFill>
          <a:ln/>
          <a:effectLst>
            <a:outerShdw sx="100000" sy="100000" kx="0" ky="0" algn="bl" rotWithShape="0" blurRad="101600" dist="38100" dir="5400000">
              <a:srgbClr val="999999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70832" y="2057400"/>
            <a:ext cx="777240" cy="9144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5" name="Shape 12"/>
          <p:cNvSpPr/>
          <p:nvPr/>
        </p:nvSpPr>
        <p:spPr>
          <a:xfrm>
            <a:off x="5280660" y="2286000"/>
            <a:ext cx="914400" cy="9144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532" y="2404872"/>
            <a:ext cx="676656" cy="67665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297680" y="333756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 — SALIENCE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389120" y="390448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de sensibilisation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4297680" y="4599432"/>
            <a:ext cx="2880360" cy="45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écoles</a:t>
            </a:r>
            <a:endParaRPr lang="en-US" sz="10" dirty="0"/>
          </a:p>
        </p:txBody>
      </p:sp>
      <p:sp>
        <p:nvSpPr>
          <p:cNvPr id="20" name="Shape 16"/>
          <p:cNvSpPr/>
          <p:nvPr/>
        </p:nvSpPr>
        <p:spPr>
          <a:xfrm>
            <a:off x="5052060" y="4233672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052060" y="423367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écoles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7680960" y="1783080"/>
            <a:ext cx="3246120" cy="2834640"/>
          </a:xfrm>
          <a:prstGeom prst="roundRect">
            <a:avLst>
              <a:gd name="adj" fmla="val 2903"/>
            </a:avLst>
          </a:prstGeom>
          <a:solidFill>
            <a:srgbClr val="F4F1EC"/>
          </a:solidFill>
          <a:ln/>
          <a:effectLst>
            <a:outerShdw sx="100000" sy="100000" kx="0" ky="0" algn="bl" rotWithShape="0" blurRad="101600" dist="38100" dir="5400000">
              <a:srgbClr val="999999">
                <a:alpha val="1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7936992" y="2057400"/>
            <a:ext cx="777240" cy="91440"/>
          </a:xfrm>
          <a:prstGeom prst="roundRect">
            <a:avLst>
              <a:gd name="adj" fmla="val 50000"/>
            </a:avLst>
          </a:prstGeom>
          <a:solidFill>
            <a:srgbClr val="D65A31"/>
          </a:solidFill>
          <a:ln/>
        </p:spPr>
      </p:sp>
      <p:sp>
        <p:nvSpPr>
          <p:cNvPr id="24" name="Shape 20"/>
          <p:cNvSpPr/>
          <p:nvPr/>
        </p:nvSpPr>
        <p:spPr>
          <a:xfrm>
            <a:off x="8846820" y="2286000"/>
            <a:ext cx="914400" cy="914400"/>
          </a:xfrm>
          <a:prstGeom prst="ellipse">
            <a:avLst/>
          </a:prstGeom>
          <a:solidFill>
            <a:srgbClr val="D65A31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5692" y="2404872"/>
            <a:ext cx="676656" cy="67665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863840" y="333756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 — SALIENCE +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MISE EN ŒUVRE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7955280" y="390448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Sensibilisation + accompagnement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7863840" y="4599432"/>
            <a:ext cx="2880360" cy="45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écoles</a:t>
            </a:r>
            <a:endParaRPr lang="en-US" sz="10" dirty="0"/>
          </a:p>
        </p:txBody>
      </p:sp>
      <p:sp>
        <p:nvSpPr>
          <p:cNvPr id="29" name="Shape 24"/>
          <p:cNvSpPr/>
          <p:nvPr/>
        </p:nvSpPr>
        <p:spPr>
          <a:xfrm>
            <a:off x="8618220" y="4233672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875">
            <a:solidFill>
              <a:srgbClr val="D65A31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8618220" y="423367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65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écoles</a:t>
            </a:r>
            <a:endParaRPr lang="en-US" sz="1150" dirty="0"/>
          </a:p>
        </p:txBody>
      </p:sp>
      <p:sp>
        <p:nvSpPr>
          <p:cNvPr id="31" name="Text 26"/>
          <p:cNvSpPr/>
          <p:nvPr/>
        </p:nvSpPr>
        <p:spPr>
          <a:xfrm>
            <a:off x="548640" y="507492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</a:t>
            </a:r>
            <a:endParaRPr lang="en-US" sz="2600" dirty="0"/>
          </a:p>
        </p:txBody>
      </p:sp>
      <p:sp>
        <p:nvSpPr>
          <p:cNvPr id="32" name="Text 27"/>
          <p:cNvSpPr/>
          <p:nvPr/>
        </p:nvSpPr>
        <p:spPr>
          <a:xfrm>
            <a:off x="548640" y="557784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écoles au total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4114800" y="507492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2600" dirty="0"/>
          </a:p>
        </p:txBody>
      </p:sp>
      <p:sp>
        <p:nvSpPr>
          <p:cNvPr id="34" name="Text 29"/>
          <p:cNvSpPr/>
          <p:nvPr/>
        </p:nvSpPr>
        <p:spPr>
          <a:xfrm>
            <a:off x="4114800" y="557784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filles enquêtées / école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7680960" y="507492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École</a:t>
            </a:r>
            <a:endParaRPr lang="en-US" sz="2600" dirty="0"/>
          </a:p>
        </p:txBody>
      </p:sp>
      <p:sp>
        <p:nvSpPr>
          <p:cNvPr id="36" name="Text 31"/>
          <p:cNvSpPr/>
          <p:nvPr/>
        </p:nvSpPr>
        <p:spPr>
          <a:xfrm>
            <a:off x="7680960" y="557784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unité de randomisation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5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questions auxquelles ce calcul doit répondre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868680" cy="868680"/>
          </a:xfrm>
          <a:prstGeom prst="ellipse">
            <a:avLst/>
          </a:prstGeom>
          <a:solidFill>
            <a:srgbClr val="1B2A4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568" y="2078888"/>
            <a:ext cx="642823" cy="6428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9202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Combien d'écoles par bras ?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91640" y="2423160"/>
            <a:ext cx="9326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détecter de façon fiable un effet de 20 % (0,20 écart-type), le seuil demandé par l'équipe de recherche.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1691640" y="3127248"/>
            <a:ext cx="9509760" cy="0"/>
          </a:xfrm>
          <a:prstGeom prst="line">
            <a:avLst/>
          </a:prstGeom>
          <a:noFill/>
          <a:ln w="12700">
            <a:solidFill>
              <a:srgbClr val="E4E0D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3383280"/>
            <a:ext cx="868680" cy="8686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568" y="3496208"/>
            <a:ext cx="642823" cy="64282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3337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Quel est l'effet minimum détectable ?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691640" y="3840480"/>
            <a:ext cx="9326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le design déjà prévu — 150 écoles, 50 par bras, 30 filles par école.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1691640" y="4544568"/>
            <a:ext cx="9509760" cy="0"/>
          </a:xfrm>
          <a:prstGeom prst="line">
            <a:avLst/>
          </a:prstGeom>
          <a:noFill/>
          <a:ln w="12700">
            <a:solidFill>
              <a:srgbClr val="E4E0D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48640" y="4800600"/>
            <a:ext cx="868680" cy="868680"/>
          </a:xfrm>
          <a:prstGeom prst="ellipse">
            <a:avLst/>
          </a:prstGeom>
          <a:solidFill>
            <a:srgbClr val="D65A3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68" y="4913528"/>
            <a:ext cx="642823" cy="64282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91640" y="4754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ce seuil évolue-t-il ?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1691640" y="5257800"/>
            <a:ext cx="9326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Selon l'ICC, l'ajout de covariables de baseline (ANCOVA), l'attrition attendue et le type d'outcome.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5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CLÉS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deux risques que l'on accepte de courir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965960" y="14173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pas rejeter H₀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389120" y="14173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Rejeter H₀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1325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est vraie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(pas d'effet réel)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1325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est fausse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(effet réel)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965960" y="1874520"/>
            <a:ext cx="2423160" cy="1051560"/>
          </a:xfrm>
          <a:prstGeom prst="rect">
            <a:avLst/>
          </a:prstGeom>
          <a:solidFill>
            <a:srgbClr val="CFE8E0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65960" y="227228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correcte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1874520"/>
            <a:ext cx="24231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D65A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214426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65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de type 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24003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5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probabilité α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965960" y="2926080"/>
            <a:ext cx="24231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65960" y="319582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de type II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65960" y="34518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probabilité β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89120" y="2926080"/>
            <a:ext cx="2423160" cy="1051560"/>
          </a:xfrm>
          <a:prstGeom prst="rect">
            <a:avLst/>
          </a:prstGeom>
          <a:solidFill>
            <a:srgbClr val="CFE8E0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0" y="332384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correcte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0" y="1783080"/>
            <a:ext cx="82296" cy="1097280"/>
          </a:xfrm>
          <a:prstGeom prst="roundRect">
            <a:avLst>
              <a:gd name="adj" fmla="val 22222"/>
            </a:avLst>
          </a:prstGeom>
          <a:solidFill>
            <a:srgbClr val="D65A31"/>
          </a:solidFill>
          <a:ln/>
        </p:spPr>
      </p:sp>
      <p:sp>
        <p:nvSpPr>
          <p:cNvPr id="20" name="Text 18"/>
          <p:cNvSpPr/>
          <p:nvPr/>
        </p:nvSpPr>
        <p:spPr>
          <a:xfrm>
            <a:off x="7543800" y="175564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 — Erreur de type I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543800" y="214884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Rejeter à tort H₀ alors qu'elle est vraie : conclure à un effet qui n'existe pas.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315200" y="3200400"/>
            <a:ext cx="82296" cy="1097280"/>
          </a:xfrm>
          <a:prstGeom prst="roundRect">
            <a:avLst>
              <a:gd name="adj" fmla="val 22222"/>
            </a:avLst>
          </a:prstGeom>
          <a:solidFill>
            <a:srgbClr val="B8791F"/>
          </a:solidFill>
          <a:ln/>
        </p:spPr>
      </p:sp>
      <p:sp>
        <p:nvSpPr>
          <p:cNvPr id="23" name="Text 21"/>
          <p:cNvSpPr/>
          <p:nvPr/>
        </p:nvSpPr>
        <p:spPr>
          <a:xfrm>
            <a:off x="7543800" y="317296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β — Erreur de type II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543800" y="356616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pas rejeter H₀ alors qu'elle est fausse : ne pas détecter un effet réel.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315200" y="4617720"/>
            <a:ext cx="82296" cy="1097280"/>
          </a:xfrm>
          <a:prstGeom prst="roundRect">
            <a:avLst>
              <a:gd name="adj" fmla="val 22222"/>
            </a:avLst>
          </a:prstGeom>
          <a:solidFill>
            <a:srgbClr val="1B2A4E"/>
          </a:solidFill>
          <a:ln/>
        </p:spPr>
      </p:sp>
      <p:sp>
        <p:nvSpPr>
          <p:cNvPr id="26" name="Text 24"/>
          <p:cNvSpPr/>
          <p:nvPr/>
        </p:nvSpPr>
        <p:spPr>
          <a:xfrm>
            <a:off x="7543800" y="459028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Puissance = 1 − β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543800" y="498348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probabilité de détecter un effet réel s'il existe. Cible retenue : 80 %.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5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CLÉS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Augmenter la puissance : la recette standard...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4F1E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933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7240" y="245059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Échantillon plus grand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d'information sur la population → détection plus facile.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82880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4F1EC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19933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26280" y="245059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Effet réel plus grand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26280" y="28346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effet ample est mécaniquement plus facile à détecter.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82880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4F1EC"/>
          </a:solidFill>
          <a:ln/>
        </p:spPr>
      </p:sp>
      <p:sp>
        <p:nvSpPr>
          <p:cNvPr id="13" name="Text 11"/>
          <p:cNvSpPr/>
          <p:nvPr/>
        </p:nvSpPr>
        <p:spPr>
          <a:xfrm>
            <a:off x="8275320" y="19933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275320" y="245059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Seuil α plus souple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75320" y="28346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Accepter plus de risque de faux positif augmente la puissance.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11109960" cy="2148840"/>
          </a:xfrm>
          <a:prstGeom prst="roundRect">
            <a:avLst>
              <a:gd name="adj" fmla="val 3404"/>
            </a:avLst>
          </a:prstGeom>
          <a:solidFill>
            <a:srgbClr val="1B2A4E"/>
          </a:solidFill>
          <a:ln/>
        </p:spPr>
      </p:sp>
      <p:sp>
        <p:nvSpPr>
          <p:cNvPr id="17" name="Shape 15"/>
          <p:cNvSpPr/>
          <p:nvPr/>
        </p:nvSpPr>
        <p:spPr>
          <a:xfrm>
            <a:off x="868680" y="3977640"/>
            <a:ext cx="777240" cy="777240"/>
          </a:xfrm>
          <a:prstGeom prst="ellipse">
            <a:avLst/>
          </a:prstGeom>
          <a:solidFill>
            <a:srgbClr val="D65A31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721" y="4078681"/>
            <a:ext cx="575158" cy="57515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874520" y="3913632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... mais le cas CKDev s'en écarte sur trois points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1874520" y="4434840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D8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« Plus d'échantillon » ⇒ plus d'écoles, pas plus de filles (l'ICC limite le gain par fille).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1874520" y="4873752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D8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3 bras, 1 seul contrôle partagé entre deux comparaisons (T1 vs C et T2 vs C).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1874520" y="5312664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D8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Seulement 30 filles/école : la marge sur ce levier est réduite, tout repose sur le nombre d'écoles.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5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CLÉ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ICC (ρ) : le paramètre le plus déterminant — et le plus incertain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à quel point les filles d'une même école se ressemblent sur l'outcome, comparées à des filles d'écoles différentes.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257800" cy="1920240"/>
          </a:xfrm>
          <a:prstGeom prst="roundRect">
            <a:avLst>
              <a:gd name="adj" fmla="val 3810"/>
            </a:avLst>
          </a:prstGeom>
          <a:solidFill>
            <a:srgbClr val="F4F1E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5146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 → 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68680" y="320040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Aucune ressemblance intra-école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4617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Équivaut à une randomisation individuelle : chaque fille compte comme une observation indépendante.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2331720"/>
            <a:ext cx="5257800" cy="1920240"/>
          </a:xfrm>
          <a:prstGeom prst="roundRect">
            <a:avLst>
              <a:gd name="adj" fmla="val 3810"/>
            </a:avLst>
          </a:prstGeom>
          <a:solidFill>
            <a:srgbClr val="F4F1EC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25146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65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 → 1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492240" y="320040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Filles d'une école quasi identiques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92240" y="3566160"/>
            <a:ext cx="4617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des filles dans la même école n'apporte presque plus d'information nouvelle.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52628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1B2A4E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6908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 retenue dans les calculs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68680" y="501091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 = 0,10 (centrale)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846320" y="4709160"/>
            <a:ext cx="0" cy="914400"/>
          </a:xfrm>
          <a:prstGeom prst="line">
            <a:avLst/>
          </a:prstGeom>
          <a:noFill/>
          <a:ln w="12700">
            <a:solidFill>
              <a:srgbClr val="3E5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0" y="46908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Plage testée en sensibilité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120640" y="5010912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0,05  →  0,10  →  0,15  →  0,20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5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formule du MDE, bloc par bloc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109960" cy="960120"/>
          </a:xfrm>
          <a:prstGeom prst="roundRect">
            <a:avLst>
              <a:gd name="adj" fmla="val 7619"/>
            </a:avLst>
          </a:prstGeom>
          <a:solidFill>
            <a:srgbClr val="F4F1E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MDE  =  </a:t>
            </a:r>
            <a:pPr algn="ctr" indent="0" marL="0">
              <a:buNone/>
            </a:pPr>
            <a:r>
              <a:rPr lang="en-US" sz="2000" b="1" dirty="0">
                <a:solidFill>
                  <a:srgbClr val="1B2A4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M(κ,α)</a:t>
            </a:r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×  </a:t>
            </a:r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√(1 / P(1−P))</a:t>
            </a:r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×  </a:t>
            </a:r>
            <a:pPr algn="ctr" indent="0" marL="0">
              <a:buNone/>
            </a:pPr>
            <a:r>
              <a:rPr lang="en-US" sz="2000" b="1" dirty="0">
                <a:solidFill>
                  <a:srgbClr val="D65A3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√(ρ/J + (1−ρ)/(J·n))</a:t>
            </a:r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×  </a:t>
            </a:r>
            <a:pPr algn="ctr" indent="0" marL="0">
              <a:buNone/>
            </a:pPr>
            <a:r>
              <a:rPr lang="en-US" sz="2000" b="1" dirty="0">
                <a:solidFill>
                  <a:srgbClr val="5B7A6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σ√(1−R²)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2697480" cy="2606040"/>
          </a:xfrm>
          <a:prstGeom prst="roundRect">
            <a:avLst>
              <a:gd name="adj" fmla="val 2807"/>
            </a:avLst>
          </a:prstGeom>
          <a:solidFill>
            <a:srgbClr val="F4F1EC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308152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B2A4E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30815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49808" y="3749040"/>
            <a:ext cx="2295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M(κ,α)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9808" y="4206240"/>
            <a:ext cx="229514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à payer pour la puissance et le seuil : t₁₋κ + tα/2 ≈ 2,80.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2880360"/>
            <a:ext cx="2697480" cy="2606040"/>
          </a:xfrm>
          <a:prstGeom prst="roundRect">
            <a:avLst>
              <a:gd name="adj" fmla="val 2807"/>
            </a:avLst>
          </a:prstGeom>
          <a:solidFill>
            <a:srgbClr val="F4F1EC"/>
          </a:solidFill>
          <a:ln/>
        </p:spPr>
      </p:sp>
      <p:sp>
        <p:nvSpPr>
          <p:cNvPr id="12" name="Shape 10"/>
          <p:cNvSpPr/>
          <p:nvPr/>
        </p:nvSpPr>
        <p:spPr>
          <a:xfrm>
            <a:off x="3584448" y="308152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584448" y="30815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584448" y="3749040"/>
            <a:ext cx="2295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Allocation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84448" y="4206240"/>
            <a:ext cx="229514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Facteur d'équilibre entre bras. Avec P = 0,5 (équilibré) : facteur = 2.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2880360"/>
            <a:ext cx="2697480" cy="2606040"/>
          </a:xfrm>
          <a:prstGeom prst="roundRect">
            <a:avLst>
              <a:gd name="adj" fmla="val 2807"/>
            </a:avLst>
          </a:prstGeom>
          <a:solidFill>
            <a:srgbClr val="F4F1EC"/>
          </a:solidFill>
          <a:ln/>
        </p:spPr>
      </p:sp>
      <p:sp>
        <p:nvSpPr>
          <p:cNvPr id="17" name="Shape 15"/>
          <p:cNvSpPr/>
          <p:nvPr/>
        </p:nvSpPr>
        <p:spPr>
          <a:xfrm>
            <a:off x="6419088" y="308152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D65A31"/>
          </a:solidFill>
          <a:ln/>
        </p:spPr>
      </p:sp>
      <p:sp>
        <p:nvSpPr>
          <p:cNvPr id="18" name="Text 16"/>
          <p:cNvSpPr/>
          <p:nvPr/>
        </p:nvSpPr>
        <p:spPr>
          <a:xfrm>
            <a:off x="6419088" y="30815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19088" y="3749040"/>
            <a:ext cx="2295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Cœur « grappes »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19088" y="4206240"/>
            <a:ext cx="229514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ρ, J (écoles au total) et n (filles/école) : le poids réel du design en grappes.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52560" y="2880360"/>
            <a:ext cx="2697480" cy="2606040"/>
          </a:xfrm>
          <a:prstGeom prst="roundRect">
            <a:avLst>
              <a:gd name="adj" fmla="val 2807"/>
            </a:avLst>
          </a:prstGeom>
          <a:solidFill>
            <a:srgbClr val="F4F1EC"/>
          </a:solidFill>
          <a:ln/>
        </p:spPr>
      </p:sp>
      <p:sp>
        <p:nvSpPr>
          <p:cNvPr id="22" name="Shape 20"/>
          <p:cNvSpPr/>
          <p:nvPr/>
        </p:nvSpPr>
        <p:spPr>
          <a:xfrm>
            <a:off x="9253728" y="308152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5B7A6E"/>
          </a:solidFill>
          <a:ln/>
        </p:spPr>
      </p:sp>
      <p:sp>
        <p:nvSpPr>
          <p:cNvPr id="23" name="Text 21"/>
          <p:cNvSpPr/>
          <p:nvPr/>
        </p:nvSpPr>
        <p:spPr>
          <a:xfrm>
            <a:off x="9253728" y="30815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253728" y="3749040"/>
            <a:ext cx="2295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Échelle &amp; ANCOVA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253728" y="4206240"/>
            <a:ext cx="229514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convertit en unité réelle ; √(1−R²) capte le gain d'une covariable de baseline.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5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Vérification numérique : T1 vs Contrôle, ρ = 0,10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0881360" cy="457200"/>
          </a:xfrm>
          <a:prstGeom prst="rect">
            <a:avLst/>
          </a:prstGeom>
          <a:solidFill>
            <a:srgbClr val="1B2A4E"/>
          </a:solidFill>
          <a:ln w="9525">
            <a:solidFill>
              <a:srgbClr val="E4E0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754880" y="1828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0" y="1828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10881360" cy="457200"/>
          </a:xfrm>
          <a:prstGeom prst="rect">
            <a:avLst/>
          </a:prstGeom>
          <a:solidFill>
            <a:srgbClr val="F4F1EC"/>
          </a:solidFill>
          <a:ln w="9525">
            <a:solidFill>
              <a:srgbClr val="E4E0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M(κ,α)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754880" y="22860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0,84 + 1,96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0" y="2286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2,80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10881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743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Allocation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754880" y="27432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√(1 / 0,25)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0" y="2743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10881360" cy="457200"/>
          </a:xfrm>
          <a:prstGeom prst="rect">
            <a:avLst/>
          </a:prstGeom>
          <a:solidFill>
            <a:srgbClr val="F4F1EC"/>
          </a:solidFill>
          <a:ln w="9525">
            <a:solidFill>
              <a:srgbClr val="E4E0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Terme ρ/J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754880" y="3200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0,10 / 100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686800" y="3200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0,0010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657600"/>
            <a:ext cx="10881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657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Terme (1−ρ)/(J·n)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754880" y="36576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0,90 / (100 × 30)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686800" y="3657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0,0003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114800"/>
            <a:ext cx="10881360" cy="457200"/>
          </a:xfrm>
          <a:prstGeom prst="rect">
            <a:avLst/>
          </a:prstGeom>
          <a:solidFill>
            <a:srgbClr val="F4F1EC"/>
          </a:solidFill>
          <a:ln w="9525">
            <a:solidFill>
              <a:srgbClr val="E4E0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114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— Racine de la somme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754880" y="4114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√0,0013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686800" y="4114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0,0361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572000"/>
            <a:ext cx="10881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0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4572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— Échelle (σ, R²=0)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754880" y="45720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× √1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686800" y="4572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48640" y="5623560"/>
            <a:ext cx="11109960" cy="777240"/>
          </a:xfrm>
          <a:prstGeom prst="roundRect">
            <a:avLst>
              <a:gd name="adj" fmla="val 9412"/>
            </a:avLst>
          </a:prstGeom>
          <a:solidFill>
            <a:srgbClr val="1B2A4E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56235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MDE final  =  2,80 × 2,00 × 0,0361 × 1,00  ≈  </a:t>
            </a:r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0,202 SD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5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Combien d'écoles par bras pour détecter 0,20 SD ?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74066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69164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1B2A4E"/>
          </a:solidFill>
          <a:ln/>
        </p:spPr>
      </p:sp>
      <p:sp>
        <p:nvSpPr>
          <p:cNvPr id="6" name="Text 3"/>
          <p:cNvSpPr/>
          <p:nvPr/>
        </p:nvSpPr>
        <p:spPr>
          <a:xfrm>
            <a:off x="8503920" y="18745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prévu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8503920" y="21945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écoles / bras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503920" y="26974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8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Suffisant seulement si ρ ≤ 0,10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75320" y="388620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F4F1EC"/>
          </a:solidFill>
          <a:ln/>
        </p:spPr>
      </p:sp>
      <p:sp>
        <p:nvSpPr>
          <p:cNvPr id="10" name="Shape 7"/>
          <p:cNvSpPr/>
          <p:nvPr/>
        </p:nvSpPr>
        <p:spPr>
          <a:xfrm>
            <a:off x="8503920" y="4114800"/>
            <a:ext cx="548640" cy="548640"/>
          </a:xfrm>
          <a:prstGeom prst="ellipse">
            <a:avLst/>
          </a:prstGeom>
          <a:solidFill>
            <a:srgbClr val="D65A31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5243" y="4186123"/>
            <a:ext cx="405994" cy="4059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503920" y="480060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ρ réel = 0,15–0,20 (plausible pour des normes sociales), il faudrait 70 à 90 écoles/bras.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5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MDE atteignable avec le design prévu (50 écoles/bras)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74066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69164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1B2A4E"/>
          </a:solidFill>
          <a:ln/>
        </p:spPr>
      </p:sp>
      <p:sp>
        <p:nvSpPr>
          <p:cNvPr id="6" name="Text 3"/>
          <p:cNvSpPr/>
          <p:nvPr/>
        </p:nvSpPr>
        <p:spPr>
          <a:xfrm>
            <a:off x="8503920" y="18745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 cible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8503920" y="21945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0,20 SD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503920" y="26974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8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Atteint précisément pour ρ = 0,10, l'hypothèse centrale.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75320" y="388620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F4F1EC"/>
          </a:solidFill>
          <a:ln/>
        </p:spPr>
      </p:sp>
      <p:sp>
        <p:nvSpPr>
          <p:cNvPr id="10" name="Shape 7"/>
          <p:cNvSpPr/>
          <p:nvPr/>
        </p:nvSpPr>
        <p:spPr>
          <a:xfrm>
            <a:off x="8503920" y="411480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5243" y="4186123"/>
            <a:ext cx="405994" cy="4059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503920" y="480060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ρ monte à 0,20, le plus petit effet détectable passe à 0,267 SD : l'étude perd la capacité de voir des effets modestes.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5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leviers d'atténuation, à budget d'écoles inchangé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4F1E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1168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Ajustement ANCOVA (baseline)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450592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contrôlant pour une mesure de l'outcome avant l'intervention.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8680" y="3154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de baseline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069080" y="31546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MDE (SD)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353872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0 %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3657600"/>
            <a:ext cx="1463040" cy="182880"/>
          </a:xfrm>
          <a:prstGeom prst="rect">
            <a:avLst/>
          </a:prstGeom>
          <a:solidFill>
            <a:srgbClr val="9FC1B4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353872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404164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10 %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0" y="4160520"/>
            <a:ext cx="1390612" cy="182880"/>
          </a:xfrm>
          <a:prstGeom prst="rect">
            <a:avLst/>
          </a:prstGeom>
          <a:solidFill>
            <a:srgbClr val="9FC1B4"/>
          </a:solidFill>
          <a:ln/>
        </p:spPr>
      </p:sp>
      <p:sp>
        <p:nvSpPr>
          <p:cNvPr id="14" name="Text 12"/>
          <p:cNvSpPr/>
          <p:nvPr/>
        </p:nvSpPr>
        <p:spPr>
          <a:xfrm>
            <a:off x="4069080" y="404164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0,192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45445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0" y="4663440"/>
            <a:ext cx="1224029" cy="182880"/>
          </a:xfrm>
          <a:prstGeom prst="rect">
            <a:avLst/>
          </a:prstGeom>
          <a:solidFill>
            <a:srgbClr val="3F6657"/>
          </a:solidFill>
          <a:ln/>
        </p:spPr>
      </p:sp>
      <p:sp>
        <p:nvSpPr>
          <p:cNvPr id="17" name="Text 15"/>
          <p:cNvSpPr/>
          <p:nvPr/>
        </p:nvSpPr>
        <p:spPr>
          <a:xfrm>
            <a:off x="4069080" y="454456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0,169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50474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0" y="5166360"/>
            <a:ext cx="1129872" cy="182880"/>
          </a:xfrm>
          <a:prstGeom prst="rect">
            <a:avLst/>
          </a:prstGeom>
          <a:solidFill>
            <a:srgbClr val="9FC1B4"/>
          </a:solidFill>
          <a:ln/>
        </p:spPr>
      </p:sp>
      <p:sp>
        <p:nvSpPr>
          <p:cNvPr id="20" name="Text 18"/>
          <p:cNvSpPr/>
          <p:nvPr/>
        </p:nvSpPr>
        <p:spPr>
          <a:xfrm>
            <a:off x="4069080" y="504748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0,156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5440680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5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R² = 30 % (plausible), le MDE passe de 0,202 à 0,169 SD, à échantillon inchangé.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09360" y="173736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4F1EC"/>
          </a:solidFill>
          <a:ln/>
        </p:spPr>
      </p:sp>
      <p:sp>
        <p:nvSpPr>
          <p:cNvPr id="23" name="Text 21"/>
          <p:cNvSpPr/>
          <p:nvPr/>
        </p:nvSpPr>
        <p:spPr>
          <a:xfrm>
            <a:off x="6629400" y="201168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Attrition attendue à l'endline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629400" y="2450592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Filles/ménages non retrouvés entre baseline et endline.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629400" y="3154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229600" y="31546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Filles/école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012680" y="31546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MDE (SD)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629400" y="353872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5 %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29600" y="353872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012680" y="353872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0,203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629400" y="404164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10 %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29600" y="404164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27,0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012680" y="404164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0,205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629400" y="454456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15 %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229600" y="454456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25,5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012680" y="454456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0,206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629400" y="504748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20 %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229600" y="504748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24,0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012680" y="50474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0,208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629400" y="5440680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5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à 20 % d'attrition, le MDE ne se dégrade que de 0,202 à 0,208 SD : le nombre d'écoles protège la précision.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5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DE VIGILANCE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comparaison secondaire « mère vs père » est moins puissante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667512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737360"/>
            <a:ext cx="685800" cy="685800"/>
          </a:xfrm>
          <a:prstGeom prst="ellipse">
            <a:avLst/>
          </a:prstGeom>
          <a:solidFill>
            <a:srgbClr val="D65A3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4394" y="1826514"/>
            <a:ext cx="507492" cy="5074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503920" y="184708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signaler explicitement au PI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7635240" y="260604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Réalisée à l'intérieur d'un seul bras traité, la comparaison mère/père ne peut détecter que des effets ≥ 0,286 SD — nettement plus grands que le seuil visé de 0,20 SD pour la comparaison principale.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7635240" y="416052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1B2A4E"/>
          </a:solidFill>
          <a:ln/>
        </p:spPr>
      </p:sp>
      <p:sp>
        <p:nvSpPr>
          <p:cNvPr id="10" name="Text 6"/>
          <p:cNvSpPr/>
          <p:nvPr/>
        </p:nvSpPr>
        <p:spPr>
          <a:xfrm>
            <a:off x="7909560" y="43434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7909560" y="46634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8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cette comparaison en poolant T1 + T2 pour retrouver une précision comparable à la comparaison principale (0,202 SD).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097280"/>
            <a:ext cx="3657600" cy="3657600"/>
          </a:xfrm>
          <a:prstGeom prst="ellipse">
            <a:avLst/>
          </a:prstGeom>
          <a:solidFill>
            <a:srgbClr val="2E437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Recommandations pour le PI et l'équipe KCDev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850" y="2003450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9280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design est « à la limite »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417320" y="226771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écoles / 50 par bras suffisent seulement si ρ réel ≤ 0,10 — hypothèse plausible mais non vérifiée.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999232"/>
            <a:ext cx="640080" cy="640080"/>
          </a:xfrm>
          <a:prstGeom prst="ellipse">
            <a:avLst/>
          </a:prstGeom>
          <a:solidFill>
            <a:srgbClr val="D65A3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50" y="3082442"/>
            <a:ext cx="473659" cy="47365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9718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risque principal reste l'ICC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1417320" y="3346704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ρ = 0,15–0,20, il faudrait 70 à 90 écoles/bras pour conserver la même puissance.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4078224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" y="4161434"/>
            <a:ext cx="473659" cy="47365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405079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leviers sans plus d'écoles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1417320" y="4425696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filles/école au lieu de 30, ou un ajustement ANCOVA sur des covariables de baseline.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48640" y="5157216"/>
            <a:ext cx="640080" cy="640080"/>
          </a:xfrm>
          <a:prstGeom prst="ellipse">
            <a:avLst/>
          </a:prstGeom>
          <a:solidFill>
            <a:srgbClr val="D65A31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850" y="5240426"/>
            <a:ext cx="473659" cy="47365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17320" y="5129784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Estimer ρ dès que possible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1417320" y="5504688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des données pilotes ou de baseline (commande `loneway`) pour remplacer l'hypothèse par une valeur observée.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029200" cy="5029200"/>
          </a:xfrm>
          <a:prstGeom prst="ellipse">
            <a:avLst/>
          </a:prstGeom>
          <a:solidFill>
            <a:srgbClr val="2E4373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828800"/>
            <a:ext cx="4114800" cy="4114800"/>
          </a:xfrm>
          <a:prstGeom prst="ellipse">
            <a:avLst/>
          </a:prstGeom>
          <a:solidFill>
            <a:srgbClr val="D65A31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49240" y="1920240"/>
            <a:ext cx="1463040" cy="14630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9435" y="2110435"/>
            <a:ext cx="1082650" cy="10826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7033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— questions et discussion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48640" y="4343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complète, formules et fichier Stata disponibles sur demande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Calculs de puissance statistique — Normes de genre et éducation des filles au Bénin</dc:title>
  <dc:subject>PptxGenJS Presentation</dc:subject>
  <dc:creator>CKDev / Dartmouth College</dc:creator>
  <cp:lastModifiedBy>CKDev / Dartmouth College</cp:lastModifiedBy>
  <cp:revision>1</cp:revision>
  <dcterms:created xsi:type="dcterms:W3CDTF">2026-09-11T07:48:46Z</dcterms:created>
  <dcterms:modified xsi:type="dcterms:W3CDTF">2026-09-11T07:48:46Z</dcterms:modified>
</cp:coreProperties>
</file>