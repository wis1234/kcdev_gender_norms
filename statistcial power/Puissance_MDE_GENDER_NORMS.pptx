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540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Écoles par bras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58-4EDA-9D5F-BA3DA5008732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58-4EDA-9D5F-BA3DA500873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F58-4EDA-9D5F-BA3DA500873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F58-4EDA-9D5F-BA3DA500873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A4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ρ = 0,05</c:v>
                </c:pt>
                <c:pt idx="1">
                  <c:v>ρ = 0,10 (central)</c:v>
                </c:pt>
                <c:pt idx="2">
                  <c:v>ρ = 0,15</c:v>
                </c:pt>
                <c:pt idx="3">
                  <c:v>ρ = 0,20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52</c:v>
                </c:pt>
                <c:pt idx="2">
                  <c:v>70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58-4EDA-9D5F-BA3DA50087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fr-FR" sz="1100" b="0" i="0" u="none" strike="noStrike">
                    <a:solidFill>
                      <a:srgbClr val="6B7280"/>
                    </a:solidFill>
                    <a:latin typeface="Arial"/>
                  </a:rPr>
                  <a:t>Écoles nécessaires / bras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MDE (SD)</c:v>
                </c:pt>
              </c:strCache>
            </c:strRef>
          </c:tx>
          <c:spPr>
            <a:ln w="38100" cap="flat">
              <a:solidFill>
                <a:srgbClr val="D65A3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D65A31"/>
              </a:solidFill>
              <a:ln w="9525" cap="flat">
                <a:solidFill>
                  <a:srgbClr val="D65A31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A4E"/>
                    </a:solidFill>
                    <a:latin typeface="Arial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ρ = 0,05</c:v>
                </c:pt>
                <c:pt idx="1">
                  <c:v>ρ = 0,10</c:v>
                </c:pt>
                <c:pt idx="2">
                  <c:v>ρ = 0,15</c:v>
                </c:pt>
                <c:pt idx="3">
                  <c:v>ρ = 0,20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</c:v>
                </c:pt>
                <c:pt idx="1">
                  <c:v>0.20200000000000001</c:v>
                </c:pt>
                <c:pt idx="2">
                  <c:v>0.23699999999999999</c:v>
                </c:pt>
                <c:pt idx="3">
                  <c:v>0.26700000000000002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AB-4C3D-A418-9B69D33E19F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2"/>
          <c:min val="0.1"/>
        </c:scaling>
        <c:delete val="0"/>
        <c:axPos val="l"/>
        <c:majorGridlines>
          <c:spPr>
            <a:ln w="9525" cap="flat">
              <a:solidFill>
                <a:srgbClr val="E4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fr-FR" sz="1100" b="0" i="0" u="none" strike="noStrike">
                    <a:solidFill>
                      <a:srgbClr val="6B7280"/>
                    </a:solidFill>
                    <a:latin typeface="Arial"/>
                  </a:rPr>
                  <a:t>MDE (écarts-types)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MDE (SD)</c:v>
                </c:pt>
              </c:strCache>
            </c:strRef>
          </c:tx>
          <c:spPr>
            <a:solidFill>
              <a:srgbClr val="D65A3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13-4E83-A2D4-5D12ADDFBCA5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13-4E83-A2D4-5D12ADDFBCA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A4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 sein d'un seul bras
(25 vs 25 écoles)</c:v>
                </c:pt>
                <c:pt idx="1">
                  <c:v>Bras traités poolés
(50 vs 50 écoles)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0.28599999999999998</c:v>
                </c:pt>
                <c:pt idx="1">
                  <c:v>0.20200000000000001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13-4E83-A2D4-5D12ADDFBC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fr-FR" sz="1100" b="0" i="0" u="none" strike="noStrike">
                    <a:solidFill>
                      <a:srgbClr val="6B7280"/>
                    </a:solidFill>
                    <a:latin typeface="Arial"/>
                  </a:rPr>
                  <a:t>MDE (écarts-types)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69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E43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607040" y="4663440"/>
            <a:ext cx="2743200" cy="274320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607040" y="4663440"/>
            <a:ext cx="2743200" cy="2743200"/>
          </a:xfrm>
          <a:prstGeom prst="ellipse">
            <a:avLst/>
          </a:prstGeom>
          <a:solidFill>
            <a:srgbClr val="D65A31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CKDEV  ×  DARTMOUTH COLLEGE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Calculs de puissance statistique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taille d'effet minimale détectable (MDE)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de genre, corvées domestiques, éducation et aspirations des filles au Bénin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4348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pour la revue du protocole de recherche  •  PI : M. Yedomiffi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essai randomisé en grappes, à trois bras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4F1EC"/>
          </a:solidFill>
          <a:ln/>
          <a:effectLst>
            <a:outerShdw blurRad="101600" dist="381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" y="2057400"/>
            <a:ext cx="777240" cy="9144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714500" y="2286000"/>
            <a:ext cx="914400" cy="91440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72" y="2404872"/>
            <a:ext cx="676656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37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904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intervention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4599432"/>
            <a:ext cx="288036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00" dirty="0"/>
          </a:p>
        </p:txBody>
      </p:sp>
      <p:sp>
        <p:nvSpPr>
          <p:cNvPr id="11" name="Shape 8"/>
          <p:cNvSpPr/>
          <p:nvPr/>
        </p:nvSpPr>
        <p:spPr>
          <a:xfrm>
            <a:off x="1485900" y="423367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1485900" y="4233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0" y="178308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4F1EC"/>
          </a:solidFill>
          <a:ln/>
          <a:effectLst>
            <a:outerShdw blurRad="101600" dist="381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370832" y="2057400"/>
            <a:ext cx="777240" cy="914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280660" y="22860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532" y="2404872"/>
            <a:ext cx="676656" cy="6766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97680" y="3337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— SALIENCE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389120" y="3904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de sensibilisation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297680" y="4599432"/>
            <a:ext cx="288036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00" dirty="0"/>
          </a:p>
        </p:txBody>
      </p:sp>
      <p:sp>
        <p:nvSpPr>
          <p:cNvPr id="20" name="Shape 16"/>
          <p:cNvSpPr/>
          <p:nvPr/>
        </p:nvSpPr>
        <p:spPr>
          <a:xfrm>
            <a:off x="5052060" y="423367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5052060" y="4233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680960" y="178308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4F1EC"/>
          </a:solidFill>
          <a:ln/>
          <a:effectLst>
            <a:outerShdw blurRad="101600" dist="381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7936992" y="2057400"/>
            <a:ext cx="777240" cy="91440"/>
          </a:xfrm>
          <a:prstGeom prst="roundRect">
            <a:avLst>
              <a:gd name="adj" fmla="val 50000"/>
            </a:avLst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8846820" y="2286000"/>
            <a:ext cx="914400" cy="91440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2" y="2404872"/>
            <a:ext cx="676656" cy="6766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63840" y="3337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 — SALIENCE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ŒUVRE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955280" y="3904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+ accompagnement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7863840" y="4599432"/>
            <a:ext cx="288036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00" dirty="0"/>
          </a:p>
        </p:txBody>
      </p:sp>
      <p:sp>
        <p:nvSpPr>
          <p:cNvPr id="29" name="Shape 24"/>
          <p:cNvSpPr/>
          <p:nvPr/>
        </p:nvSpPr>
        <p:spPr>
          <a:xfrm>
            <a:off x="8618220" y="423367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D65A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8618220" y="4233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4864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600" dirty="0"/>
          </a:p>
        </p:txBody>
      </p:sp>
      <p:sp>
        <p:nvSpPr>
          <p:cNvPr id="32" name="Text 27"/>
          <p:cNvSpPr/>
          <p:nvPr/>
        </p:nvSpPr>
        <p:spPr>
          <a:xfrm>
            <a:off x="548640" y="5577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 au total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11480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34" name="Text 29"/>
          <p:cNvSpPr/>
          <p:nvPr/>
        </p:nvSpPr>
        <p:spPr>
          <a:xfrm>
            <a:off x="4114800" y="5577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filles enquêtées / école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768096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</a:t>
            </a:r>
            <a:endParaRPr lang="en-US" sz="2600" dirty="0"/>
          </a:p>
        </p:txBody>
      </p:sp>
      <p:sp>
        <p:nvSpPr>
          <p:cNvPr id="36" name="Text 31"/>
          <p:cNvSpPr/>
          <p:nvPr/>
        </p:nvSpPr>
        <p:spPr>
          <a:xfrm>
            <a:off x="7680960" y="5577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unité de randomisation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questions auxquelles ce calcul doit répondre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68680" cy="868680"/>
          </a:xfrm>
          <a:prstGeom prst="ellipse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" y="207888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Combien d'écoles par bras 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242316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détecter de façon fiable un effet de 20 % (0,20 écart-type), le seuil demandé par l'équipe de recherche.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691640" y="3127248"/>
            <a:ext cx="950976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" y="3496208"/>
            <a:ext cx="642823" cy="6428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est l'effet minimum détectable 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91640" y="384048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design déjà prévu — 150 écoles, 50 par bras, 30 filles par école.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691640" y="4544568"/>
            <a:ext cx="950976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868680" cy="86868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" y="4913528"/>
            <a:ext cx="642823" cy="6428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ce seuil évolue-t-il ?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91640" y="525780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l'ICC, l'ajout de covariables de baseline (ANCOVA), l'attrition attendue et le type d'outcome.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risques que l'on accepte de courir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65960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rejeter H₀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89120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Rejeter H₀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est vraie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 d'effet réel)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est fausse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(effet réel)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65960" y="1874520"/>
            <a:ext cx="2423160" cy="1051560"/>
          </a:xfrm>
          <a:prstGeom prst="rect">
            <a:avLst/>
          </a:prstGeom>
          <a:solidFill>
            <a:srgbClr val="CFE8E0"/>
          </a:solidFill>
          <a:ln w="1270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965960" y="22722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correcte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874520"/>
            <a:ext cx="24231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5A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0" y="21442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type 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4003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65960" y="2926080"/>
            <a:ext cx="24231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965960" y="31958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type II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34518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2926080"/>
            <a:ext cx="2423160" cy="1051560"/>
          </a:xfrm>
          <a:prstGeom prst="rect">
            <a:avLst/>
          </a:prstGeom>
          <a:solidFill>
            <a:srgbClr val="CFE8E0"/>
          </a:solidFill>
          <a:ln w="1270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389120" y="33238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correcte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783080"/>
            <a:ext cx="82296" cy="1097280"/>
          </a:xfrm>
          <a:prstGeom prst="roundRect">
            <a:avLst>
              <a:gd name="adj" fmla="val 22222"/>
            </a:avLst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543800" y="1755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— Erreur de type 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43800" y="2148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Rejeter à tort H₀ alors qu'elle est vraie : conclure à un effet qui n'existe pas.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0" y="3200400"/>
            <a:ext cx="82296" cy="1097280"/>
          </a:xfrm>
          <a:prstGeom prst="roundRect">
            <a:avLst>
              <a:gd name="adj" fmla="val 22222"/>
            </a:avLst>
          </a:prstGeom>
          <a:solidFill>
            <a:srgbClr val="B8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543800" y="3172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— Erreur de type II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43800" y="35661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rejeter H₀ alors qu'elle est fausse : ne pas détecter un effet réel.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4617720"/>
            <a:ext cx="82296" cy="1097280"/>
          </a:xfrm>
          <a:prstGeom prst="roundRect">
            <a:avLst>
              <a:gd name="adj" fmla="val 22222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543800" y="45902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Puissance = 1 − β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43800" y="49834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probabilité de détecter un effet réel s'il existe. Cible retenue : 80 %.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Augmenter la puissance : la recette standard...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Échantillon plus grand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d'information sur la population → détection plus facile.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2628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Effet réel plus grand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effet ample est mécaniquement plus facile à détecter.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7532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7532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 α plus souple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plus de risque de faux positif augmente la puissance.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68680" y="3977640"/>
            <a:ext cx="777240" cy="77724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4078681"/>
            <a:ext cx="575158" cy="5751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74520" y="391363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 mais le </a:t>
            </a:r>
            <a:r>
              <a:rPr lang="en-US" sz="17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</a:t>
            </a: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GENDER NORMS s'en écarte sur trois points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874520" y="443484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« Plus d'échantillon » ⇒ plus d'écoles, pas plus de filles (l'ICC limite le gain par fille).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874520" y="487375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bras, 1 seul contrôle partagé entre deux comparaisons (T1 vs C et T2 vs C).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874520" y="5312664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Seulement 30 filles/école : la marge sur ce levier est réduite, tout repose sur le nombre d'écoles.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ICC (ρ) : le paramètre le plus déterminant — et le plus incertain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à quel point les filles d'une même école se ressemblent sur l'outcome, comparées à des filles d'écoles différentes.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→ 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ressemblance intra-école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Équivaut à une randomisation individuelle : chaque fille compte comme une observation indépendante.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65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→ 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Filles d'une école quasi identiques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356616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filles dans la même école n'apporte presque plus d'information nouvelle.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68680" y="4690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retenue dans les calculs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50109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0,10 (centrale)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4709160"/>
            <a:ext cx="0" cy="914400"/>
          </a:xfrm>
          <a:prstGeom prst="line">
            <a:avLst/>
          </a:prstGeom>
          <a:noFill/>
          <a:ln w="12700">
            <a:solidFill>
              <a:srgbClr val="3E5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120640" y="4690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testée en sensibilité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50109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  →  0,10  →  0,15  →  0,20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formule du MDE, bloc par bloc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822960" y="1600200"/>
                <a:ext cx="1060704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fr-FR" sz="2000" kern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MDE</m:t>
                      </m:r>
                      <m:r>
                        <a:rPr lang="fr-FR" sz="2000" kern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fr-FR" sz="2000" kern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d>
                        <m:dPr>
                          <m:ctrlPr>
                            <a:rPr lang="fr-FR" sz="2000" kern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000" kern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κ</m:t>
                          </m:r>
                          <m:r>
                            <a:rPr lang="fr-FR" sz="2000" kern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sz="2000" kern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α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lang="fr-FR" sz="2000" i="1">
                              <a:solidFill>
                                <a:srgbClr val="FFC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2000" kern="0">
                                  <a:solidFill>
                                    <a:srgbClr val="FFC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kern="0">
                                  <a:solidFill>
                                    <a:srgbClr val="FFC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 sz="2000" kern="0">
                                  <a:solidFill>
                                    <a:srgbClr val="FFC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fr-FR" sz="2000" kern="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kern="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2000" kern="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P</m:t>
                                  </m:r>
                                </m:e>
                              </m:d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fr-FR" sz="20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ad>
                        <m:radPr>
                          <m:degHide m:val="on"/>
                          <m:ctrlP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2000" i="1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i="1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 sz="2000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den>
                          </m:f>
                          <m:r>
                            <a:rPr lang="fr-FR" sz="2000" ker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2000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fr-FR" sz="2000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ρ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 sz="2000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  <m:r>
                                <a:rPr lang="fr-FR" sz="2000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fr-FR" sz="2000" ker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den>
                          </m:f>
                        </m:e>
                      </m:rad>
                      <m:r>
                        <a:rPr lang="fr-FR" sz="20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fr-FR" sz="2000" kern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sz="2000" b="0" i="1" kern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ad>
                        <m:radPr>
                          <m:degHide m:val="on"/>
                          <m:ctrlPr>
                            <a:rPr lang="fr-FR" sz="20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2000" ker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sz="2000" ker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000" ker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fr-FR" sz="2000" ker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600200"/>
                <a:ext cx="10607040" cy="960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4980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4980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M(κ,α)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à payer pour la puissance et le seuil : t₁₋κ + tα/2 ≈ 2,80.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58444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8444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8444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d'équilibre entre bras. Avec P = 0,5 (équilibré) : facteur = 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1908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1908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1908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Cœur « grappes 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ρ, J (écoles au total) et n (filles/école) : le poids réel du design en grappes.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925372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B7A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25372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5372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Échelle &amp; ANCOVA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5372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convertit en unité réelle ; √(1−R²) capte le gain d'une covariable de baseline.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 numérique : T1 vs Contrôle, ρ = 0,10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457200"/>
          </a:xfrm>
          <a:prstGeom prst="rect">
            <a:avLst/>
          </a:prstGeom>
          <a:solidFill>
            <a:srgbClr val="1B2A4E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0881360" cy="457200"/>
          </a:xfrm>
          <a:prstGeom prst="rect">
            <a:avLst/>
          </a:prstGeom>
          <a:solidFill>
            <a:srgbClr val="F4F1EC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M(κ,α)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 + 1,96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Allocation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√(1 / 0,25)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0881360" cy="457200"/>
          </a:xfrm>
          <a:prstGeom prst="rect">
            <a:avLst/>
          </a:prstGeom>
          <a:solidFill>
            <a:srgbClr val="F4F1EC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Terme ρ/J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 / 100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0,0010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Terme (1−ρ)/(J·n)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0,90 / (100 × 30)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0,0003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0881360" cy="457200"/>
          </a:xfrm>
          <a:prstGeom prst="rect">
            <a:avLst/>
          </a:prstGeom>
          <a:solidFill>
            <a:srgbClr val="F4F1EC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Racine de la somme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√0,0013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0,0361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Échelle (σ, R²=0)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754880" y="4572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√1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68680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2296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MDE final  =  2,80 × 2,00 × 0,0361 × 1,00  ≈  </a:t>
            </a: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0,202 SD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Combien d'écoles par bras pour détecter 0,20 SD 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916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5039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prévu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écoles / bras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039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Suffisant seulement si ρ ≤ 0,10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886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503920" y="4114800"/>
            <a:ext cx="548640" cy="54864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243" y="41861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4800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ρ réel = 0,15–0,20 (plausible pour des normes sociales), il faudrait 70 à 90 écoles/bras.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MDE atteignable avec le design prévu (50 écoles/bras)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916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5039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cible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0,20 SD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039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Atteint précisément pour ρ = 0,10, l'hypothèse centrale.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886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503920" y="4114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243" y="41861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4800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ρ monte à 0,20, le plus petit effet détectable passe à 0,267 SD : l'étude perd la capacité de voir des effets modestes.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leviers d'atténuation, à budget d'écoles inchangé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Ajustement ANCOVA (baseline)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contrôlant pour une mesure de l'outcome avant l'intervention.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 baseline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6908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(SD)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657600"/>
            <a:ext cx="1463040" cy="182880"/>
          </a:xfrm>
          <a:prstGeom prst="rect">
            <a:avLst/>
          </a:prstGeom>
          <a:solidFill>
            <a:srgbClr val="9FC1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69080" y="3538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041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4160520"/>
            <a:ext cx="1390612" cy="182880"/>
          </a:xfrm>
          <a:prstGeom prst="rect">
            <a:avLst/>
          </a:prstGeom>
          <a:solidFill>
            <a:srgbClr val="9FC1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069080" y="4041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0,192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544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4663440"/>
            <a:ext cx="1224029" cy="182880"/>
          </a:xfrm>
          <a:prstGeom prst="rect">
            <a:avLst/>
          </a:prstGeom>
          <a:solidFill>
            <a:srgbClr val="3F66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069080" y="45445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0,169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047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5166360"/>
            <a:ext cx="1129872" cy="182880"/>
          </a:xfrm>
          <a:prstGeom prst="rect">
            <a:avLst/>
          </a:prstGeom>
          <a:solidFill>
            <a:srgbClr val="9FC1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069080" y="50474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4406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R² = 30 % (plausible), le MDE passe de 0,202 à 0,169 SD, à échantillon inchangé.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29400" y="2011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attendue à l'endline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24505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Filles/ménages non retrouvés entre baseline et endline.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Filles/école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1268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(SD)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3538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3538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12680" y="35387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4041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041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12680" y="40416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4544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45445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12680" y="45445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50474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50474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12680" y="5047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9400" y="54406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à 20 % d'attrition, le MDE ne se dégrade que de 0,202 à 0,208 SD : le nombre d'écoles protège la précision.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VIGILANCE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comparaison secondaire « mère vs père » est moins puissante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685800" cy="68580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394" y="1826514"/>
            <a:ext cx="507492" cy="5074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8470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signaler explicitement au PI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635240" y="26060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 à l'intérieur d'un seul bras traité, la comparaison mère/père ne peut détecter que des effets ≥ 0,286 SD — nettement plus grands que le seuil visé de 0,20 SD pour la comparaison principale.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35240" y="4160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90956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909560" y="46634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cette comparaison en poolant T1 + T2 pour retrouver une précision comparable à la comparaison principale (0,202 SD).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2E43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pour le PI et l'équipe KCDev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20034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design est « à la limite »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22677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écoles / 50 par bras suffisent seulement si ρ réel ≤ 0,10 — hypothèse plausible mais non vérifiée.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99232"/>
            <a:ext cx="640080" cy="64008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3082442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71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risque principal reste l'ICC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417320" y="33467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ρ = 0,15–0,20, il faudrait 70 à 90 écoles/bras pour conserver la même puissance.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078224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4161434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50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leviers sans plus d'écoles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417320" y="44256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filles/école au lieu de 30, ou un ajustement ANCOVA sur des covariables de baseline.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157216"/>
            <a:ext cx="640080" cy="640080"/>
          </a:xfrm>
          <a:prstGeom prst="ellipse">
            <a:avLst/>
          </a:prstGeom>
          <a:solidFill>
            <a:srgbClr val="D65A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5240426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1297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Estimer ρ dès que possible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417320" y="55046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données pilotes ou de baseline (commande `loneway`) pour remplacer l'hypothèse par une valeur observée.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2E43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75520" y="-1828800"/>
            <a:ext cx="4114800" cy="4114800"/>
          </a:xfrm>
          <a:prstGeom prst="ellipse">
            <a:avLst/>
          </a:prstGeom>
          <a:solidFill>
            <a:srgbClr val="D65A31">
              <a:alpha val="5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349240" y="1920240"/>
            <a:ext cx="1463040" cy="14630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435" y="2110435"/>
            <a:ext cx="1082650" cy="1082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03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et discussion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complète, formules et fichier Stata disponibles sur demande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1216</Words>
  <Application>Microsoft Office PowerPoint</Application>
  <PresentationFormat>Grand écran</PresentationFormat>
  <Paragraphs>214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Cambria Math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Calculs de puissance statistique — Normes de genre et éducation des filles au Bénin</dc:title>
  <dc:subject>PptxGenJS Presentation</dc:subject>
  <dc:creator>CKDev / Dartmouth College</dc:creator>
  <cp:lastModifiedBy>Ronaldo.A AGBOHOU Ronaldo</cp:lastModifiedBy>
  <cp:revision>4</cp:revision>
  <dcterms:created xsi:type="dcterms:W3CDTF">2026-09-11T07:48:46Z</dcterms:created>
  <dcterms:modified xsi:type="dcterms:W3CDTF">2026-09-11T08:13:19Z</dcterms:modified>
</cp:coreProperties>
</file>